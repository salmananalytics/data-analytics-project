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99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Furniture</c:v>
                  </c:pt>
                  <c:pt idx="1">
                    <c:v>Off. Supplies</c:v>
                  </c:pt>
                  <c:pt idx="2">
                    <c:v>Technology</c:v>
                  </c:pt>
                  <c:pt idx="3">
                    <c:v>Apparel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610</c:v>
                </c:pt>
                <c:pt idx="2">
                  <c:v>780</c:v>
                </c:pt>
                <c:pt idx="3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($000)</c:v>
                </c:pt>
              </c:strCache>
            </c:strRef>
          </c:tx>
          <c:spPr>
            <a:solidFill>
              <a:srgbClr val="C99A00"/>
            </a:solidFill>
            <a:ln w="31750" cap="flat">
              <a:solidFill>
                <a:srgbClr val="C99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99A00"/>
              </a:solidFill>
              <a:ln w="9525" cap="flat">
                <a:solidFill>
                  <a:srgbClr val="C99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78</c:v>
                </c:pt>
                <c:pt idx="1">
                  <c:v>82</c:v>
                </c:pt>
                <c:pt idx="2">
                  <c:v>90</c:v>
                </c:pt>
                <c:pt idx="3">
                  <c:v>85</c:v>
                </c:pt>
                <c:pt idx="4">
                  <c:v>95</c:v>
                </c:pt>
                <c:pt idx="5">
                  <c:v>100</c:v>
                </c:pt>
                <c:pt idx="6">
                  <c:v>98</c:v>
                </c:pt>
                <c:pt idx="7">
                  <c:v>105</c:v>
                </c:pt>
                <c:pt idx="8">
                  <c:v>110</c:v>
                </c:pt>
                <c:pt idx="9">
                  <c:v>130</c:v>
                </c:pt>
                <c:pt idx="10">
                  <c:v>145</c:v>
                </c:pt>
                <c:pt idx="11">
                  <c:v>150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4A00"/>
              </a:solidFill>
              <a:effectLst/>
            </c:spPr>
          </c:dPt>
          <c:dPt>
            <c:idx val="1"/>
            <c:bubble3D val="0"/>
            <c:spPr>
              <a:solidFill>
                <a:srgbClr val="C99A00"/>
              </a:solidFill>
              <a:effectLst/>
            </c:spPr>
          </c:dPt>
          <c:dPt>
            <c:idx val="2"/>
            <c:bubble3D val="0"/>
            <c:spPr>
              <a:solidFill>
                <a:srgbClr val="F2C81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</c:v>
                </c:pt>
                <c:pt idx="1">
                  <c:v>31</c:v>
                </c:pt>
                <c:pt idx="2">
                  <c:v>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737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2E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2B2E"/>
                </a:solidFill>
                <a:latin typeface="Calibri"/>
              </a:rPr>
              <a:t>Sales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($000)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  <c:pt idx="3">
                    <c:v>Apparel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610</c:v>
                </c:pt>
                <c:pt idx="2">
                  <c:v>780</c:v>
                </c:pt>
                <c:pt idx="3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2926080" cy="2926080"/>
          </a:xfrm>
          <a:prstGeom prst="ellipse">
            <a:avLst/>
          </a:prstGeom>
          <a:solidFill>
            <a:srgbClr val="1E714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155A9C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PROJECT — FULL WALKTHROUGH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Performance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7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step-by-step project covering data cleaning in Excel, structured analysis in SQL, and interactive visualization in Power BI.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80260" cy="475488"/>
          </a:xfrm>
          <a:prstGeom prst="roundRect">
            <a:avLst>
              <a:gd name="adj" fmla="val 50000"/>
            </a:avLst>
          </a:prstGeom>
          <a:solidFill>
            <a:srgbClr val="1E714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0802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4388" y="4160520"/>
            <a:ext cx="708660" cy="475488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11" name="Text 9"/>
          <p:cNvSpPr/>
          <p:nvPr/>
        </p:nvSpPr>
        <p:spPr>
          <a:xfrm>
            <a:off x="3104388" y="4160520"/>
            <a:ext cx="708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14216" y="4160520"/>
            <a:ext cx="1280160" cy="47548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13" name="Text 11"/>
          <p:cNvSpPr/>
          <p:nvPr/>
        </p:nvSpPr>
        <p:spPr>
          <a:xfrm>
            <a:off x="4014216" y="4160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Md Salman      |      Email: mds223347@gmail.com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the project, phase by phase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 &amp; Objective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139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 Overview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346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Excel: Cleaning the Data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155A9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536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SQL: Analyzing the Data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2157984"/>
            <a:ext cx="457200" cy="457200"/>
          </a:xfrm>
          <a:prstGeom prst="ellipse">
            <a:avLst/>
          </a:prstGeom>
          <a:solidFill>
            <a:srgbClr val="C99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2139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Power BI: Visualizing the Data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2761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33649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3346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key used throughout this deck: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126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E7145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6108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0" y="6126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5A9C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6108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23360" y="6126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99A00"/>
          </a:solidFill>
          <a:ln/>
        </p:spPr>
      </p:sp>
      <p:sp>
        <p:nvSpPr>
          <p:cNvPr id="34" name="Text 32"/>
          <p:cNvSpPr/>
          <p:nvPr/>
        </p:nvSpPr>
        <p:spPr>
          <a:xfrm>
            <a:off x="4370832" y="6108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 About?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 — before we dive into the technical parts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messy, raw retail sales data and turn it into a clean, query-able, and visual story that helps a business make better decisions.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3-stage journey for the data: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9F7EF"/>
          </a:solidFill>
          <a:ln w="15875">
            <a:solidFill>
              <a:srgbClr val="1E71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749040"/>
            <a:ext cx="502920" cy="91440"/>
          </a:xfrm>
          <a:prstGeom prst="roundRect">
            <a:avLst/>
          </a:prstGeom>
          <a:solidFill>
            <a:srgbClr val="1E714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5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 it (Excel)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messy — duplicates, blanks, inconsistent formats. Excel fixes this first.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AF3FC"/>
          </a:solidFill>
          <a:ln w="15875">
            <a:solidFill>
              <a:srgbClr val="155A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3749040"/>
            <a:ext cx="502920" cy="91440"/>
          </a:xfrm>
          <a:prstGeom prst="roundRect">
            <a:avLst/>
          </a:prstGeom>
          <a:solidFill>
            <a:srgbClr val="155A9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Question it (SQL)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clean, we ask specific business questions using SQL queries — like a search engine for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352044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EF7DD"/>
          </a:solidFill>
          <a:ln w="15875">
            <a:solidFill>
              <a:srgbClr val="C99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3749040"/>
            <a:ext cx="502920" cy="91440"/>
          </a:xfrm>
          <a:prstGeom prst="roundRect">
            <a:avLst/>
          </a:prstGeom>
          <a:solidFill>
            <a:srgbClr val="C99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Show it (Power BI)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the answers are turned into visuals anyone can read at a glance — no query needed.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needed to happen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492240" cy="4892040"/>
          </a:xfrm>
          <a:prstGeom prst="roundRect">
            <a:avLst>
              <a:gd name="adj" fmla="val 1495"/>
            </a:avLst>
          </a:prstGeom>
          <a:solidFill>
            <a:srgbClr val="F0F7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chain has transaction data scattered across multiple sources with no unified view of performance. Management lacks quick, reliable answers to basic but critical questions.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89504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6148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&amp; categories drive the most revenue?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5112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8328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sales performance vary by region and month?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133088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0507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most valuable customers?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754880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26864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gaps in profitability?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0" y="1234440"/>
            <a:ext cx="4297680" cy="4892040"/>
          </a:xfrm>
          <a:prstGeom prst="roundRect">
            <a:avLst>
              <a:gd name="adj" fmla="val 1702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3524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source of truth, decisions are made on gut feeling instead of evidence — leading to overstocking, missed profitable regions, and unclear customer value.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35240" y="4114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solves that by building one clean, analyzable, and visual dataset.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we set out to do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0F7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analyze, and visualize retail sales data using Excel, SQL, and Power BI to uncover trends and support data-driven decisions.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cleaning &amp; preparation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Sales, profit &amp; customer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dashboard 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recommendations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9050">
            <a:solidFill>
              <a:srgbClr val="5C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/ live data feeds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Predictive ML forecasting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434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External market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937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pipeline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 we start with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441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441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441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234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3441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 the Raw Data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1099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516636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transaction identifier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purchase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 / 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reference &amp;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Sub-Category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Profit / 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financials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/ State / 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of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plays a distinct role across the analytics pipeline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49834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Techniques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Excel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 &amp; preparation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duplicates, Text-to-Columns, IF/VLOOKUP, Pivot 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(MySQL)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JOINs, GROUP BY, Window Functions, CTEs, Aggregations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visualization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measures, relationships, slicers, drill-down dashboards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three together?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11109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handles quick, hands-on cleaning; SQL scales the analysis to a proper query layer; Power BI turns the results into visuals decision-makers can actually use — together covering the full analytics lifecycle.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 from raw data to business insight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121408"/>
            <a:ext cx="512064" cy="51206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4460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retail transaction CSV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341071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2889504" y="23774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 w="19050">
            <a:solidFill>
              <a:srgbClr val="1E71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6452" y="2121408"/>
            <a:ext cx="512064" cy="512064"/>
          </a:xfrm>
          <a:prstGeom prst="ellipse">
            <a:avLst/>
          </a:prstGeom>
          <a:solidFill>
            <a:srgbClr val="1E71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6452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80944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(Excel)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26664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fix errors, format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3752" y="341071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11496" y="23774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 w="19050">
            <a:solidFill>
              <a:srgbClr val="155A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8444" y="2121408"/>
            <a:ext cx="512064" cy="512064"/>
          </a:xfrm>
          <a:prstGeom prst="ellipse">
            <a:avLst/>
          </a:prstGeom>
          <a:solidFill>
            <a:srgbClr val="155A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8444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02936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48656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aggregate, join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95744" y="341071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33488" y="23774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 w="19050">
            <a:solidFill>
              <a:srgbClr val="C99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0436" y="2121408"/>
            <a:ext cx="512064" cy="512064"/>
          </a:xfrm>
          <a:prstGeom prst="ellipse">
            <a:avLst/>
          </a:prstGeom>
          <a:solidFill>
            <a:srgbClr val="C99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0436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4928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BI)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70648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17736" y="341071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9555480" y="23774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82428" y="2121408"/>
            <a:ext cx="512064" cy="51206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8242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46920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92640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business action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5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714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6FCF9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— Cleaning the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 can happen, raw data has to be made trustworthy.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71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5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Issues Found &amp; Fixed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below was identified and resolved directly in Excel before moving to SQL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251960"/>
                <a:gridCol w="34747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 in Excel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1,240 duplicate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&gt; Remove Duplicates on OrderID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transaction now unique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 missing CustomerIDs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with IFERROR, manually reviewed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customer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date formats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(DD/MM vs MM-DD-YY)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Text-to-Columns + custom date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DD-MM-YYYY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currency symbols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Sales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&amp; Replace + VALUE() conversion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numeric Sales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name typos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("Furnture", "tech")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 dropdown lists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category names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71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5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&amp; Functions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Excel toolkit that powered the cleanup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70916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VLOOKUP()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category from a product master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=VLOOKUP(A2,ProductList,2,FALSE)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IFERROR()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lookup errors gracefully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=IFERROR(VLOOKUP(...),"Not Found")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date &amp; number formatting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=TEXT(B2,"DD-MM-YYYY")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SUMIFS()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totals for QA checks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=SUMIFS(Sales,Region,"West")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TRIM() + PROPER()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extra spaces &amp; fix text casing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=PROPER(TRIM(C2))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E9F7EF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5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clean, formula-verified data means every SQL query and Power BI visual downstream can be trusted at face value — no re-checking numbers later.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71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5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Table: Quick Sanity 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loading data into SQL, a quick pivot confirms totals look right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— Sum of Sales by Category &amp; Region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46504"/>
                <a:gridCol w="1746504"/>
                <a:gridCol w="1746504"/>
                <a:gridCol w="1746504"/>
                <a:gridCol w="174650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588,600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373,700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1,925,800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37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pivot confirmed category and region totals matched the raw record count — giving confidence to move into SQL for deeper analysis.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55A9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6AB4F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A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Analyzing the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clean data loaded into a database, we can ask precise business questions at scale.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SQL, and What the Table Looks Like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lets us ask precise questions over 25,000+ rows in milliseconds — something Excel struggles with at scale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retail_db   |   Table: sales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91840"/>
                <a:gridCol w="4617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unique transaction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the transaction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CustomerID, 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VARCHAR(20), VARCHAR(20)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reference and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Sub_Category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VARCHAR(30), VARCHAR(30)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State, 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 x3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of the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Profit, 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DECIMAL(10,2), DECIMAL(10,2), 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financials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1: Top-Selling Products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products bring in the most revenue?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3871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ProductName, SUM(Sales) AS Total_Sales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ProductName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Total_Sales DESC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(sample rows)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109960" cy="914400"/>
        </p:xfrm>
        <a:graphic>
          <a:graphicData uri="http://schemas.openxmlformats.org/drawingml/2006/table">
            <a:tbl>
              <a:tblPr/>
              <a:tblGrid>
                <a:gridCol w="5554980"/>
                <a:gridCol w="55549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Chair Deluxe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$45,230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Stand Pro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Mouse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Desk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8571"/>
            </a:avLst>
          </a:prstGeom>
          <a:solidFill>
            <a:srgbClr val="EAF3FC"/>
          </a:solidFill>
          <a:ln w="12700">
            <a:solidFill>
              <a:srgbClr val="155A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aggregates every sale per product; ORDER BY + LIMIT surfaces just the top performers.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2: Monthly Revenue Trend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How does revenue move across the year?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3871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MONTHNAME(OrderDate) AS Month,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ROUND(SUM(Sales),2) AS Revenue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MONTH(OrderDate), MONTHNAME(OrderDate)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MONTH(OrderDate);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(sample rows)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109960" cy="914400"/>
        </p:xfrm>
        <a:graphic>
          <a:graphicData uri="http://schemas.openxmlformats.org/drawingml/2006/table">
            <a:tbl>
              <a:tblPr/>
              <a:tblGrid>
                <a:gridCol w="5554980"/>
                <a:gridCol w="55549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$85,900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$98,200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8571"/>
            </a:avLst>
          </a:prstGeom>
          <a:solidFill>
            <a:srgbClr val="EAF3FC"/>
          </a:solidFill>
          <a:ln w="12700">
            <a:solidFill>
              <a:srgbClr val="155A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month number (not name) keeps the results in calendar order, not alphabetical.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3: Region-wise Profit &amp; Margin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regions are actually the most profitable?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3871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ROUND(SUM(Profit),2) AS Total_Profit,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ROUND(SUM(Profit)/SUM(Sales)*100,1) AS Margin_Pct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Region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Total_Profit DESC;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(sample rows)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1099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Total_Profit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Margin_Pct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$61,200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8571"/>
            </a:avLst>
          </a:prstGeom>
          <a:solidFill>
            <a:srgbClr val="EAF3FC"/>
          </a:solidFill>
          <a:ln w="12700">
            <a:solidFill>
              <a:srgbClr val="155A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Margin_Pct reveals that a region with lower sales can still be the most efficient — profit isn't just about volume.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4: Top Customers (Window Function)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Who are our highest-value customers?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3871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CustomerID, SUM(Sales) AS Total_Spent,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OVER (ORDER BY SUM(Sales) DESC) AS Spend_Rank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(sample rows)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1099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Total_Spent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Spend_Rank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A9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CUST-1042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CUST-2087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CUST-3311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CUST-1789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8571"/>
            </a:avLst>
          </a:prstGeom>
          <a:solidFill>
            <a:srgbClr val="EAF3FC"/>
          </a:solidFill>
          <a:ln w="12700">
            <a:solidFill>
              <a:srgbClr val="155A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OVER() is a window function — it ranks rows without collapsing them the way GROUP BY alone would.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B4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C99A0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F2C81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Visualizing the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answers become an interactive dashboard anyone can explore without writing a query.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DAX Measures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tables connect, and the calculations behind every KPI card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(star schema)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29718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C99A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(Fact)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EF7DD"/>
          </a:solidFill>
          <a:ln w="15875">
            <a:solidFill>
              <a:srgbClr val="C99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377440"/>
            <a:ext cx="1280160" cy="914400"/>
          </a:xfrm>
          <a:prstGeom prst="line">
            <a:avLst/>
          </a:prstGeom>
          <a:noFill/>
          <a:ln w="15875">
            <a:solidFill>
              <a:srgbClr val="C99A0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91840" y="18288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EF7DD"/>
          </a:solidFill>
          <a:ln w="15875">
            <a:solidFill>
              <a:srgbClr val="C99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377440"/>
            <a:ext cx="1280160" cy="914400"/>
          </a:xfrm>
          <a:prstGeom prst="line">
            <a:avLst/>
          </a:prstGeom>
          <a:noFill/>
          <a:ln w="15875">
            <a:solidFill>
              <a:srgbClr val="C99A0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" y="42062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EF7DD"/>
          </a:solidFill>
          <a:ln w="15875">
            <a:solidFill>
              <a:srgbClr val="C99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63040" y="3566160"/>
            <a:ext cx="1280160" cy="914400"/>
          </a:xfrm>
          <a:prstGeom prst="line">
            <a:avLst/>
          </a:prstGeom>
          <a:noFill/>
          <a:ln w="15875">
            <a:solidFill>
              <a:srgbClr val="C99A0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91840" y="42062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EF7DD"/>
          </a:solidFill>
          <a:ln w="15875">
            <a:solidFill>
              <a:srgbClr val="C99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3566160"/>
            <a:ext cx="1280160" cy="914400"/>
          </a:xfrm>
          <a:prstGeom prst="line">
            <a:avLst/>
          </a:prstGeom>
          <a:noFill/>
          <a:ln w="15875">
            <a:solidFill>
              <a:srgbClr val="C99A0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3949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28800"/>
          <a:ext cx="6263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97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SUM(Sales[Sales])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SUM(Sales[Profit])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Sales],DISTINCTCOUNT(Sales[OrderID]))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Profit],[Total Sales])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Sales]-[PY Sales],[PY Sales])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(Sales) connects to four dimension tables — this star schema keeps the model fast and lets every visual filter correctly through slicers.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B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 w="9525">
            <a:solidFill>
              <a:srgbClr val="F2C8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20116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741664" y="201168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 w="9525">
            <a:solidFill>
              <a:srgbClr val="F2C8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41664" y="20116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41280" y="201168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 w="9525">
            <a:solidFill>
              <a:srgbClr val="F2C8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0" y="20116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3075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$1.28M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1417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9544" y="9601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2424" y="13075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92624" y="1417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53328" y="9601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13075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25,412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836408" y="1417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97112" y="9601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1069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79992" y="13075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680192" y="1417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148840"/>
            <a:ext cx="3977640" cy="416052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2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02920" y="2651760"/>
          <a:ext cx="3703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4453128" y="2148840"/>
            <a:ext cx="3977640" cy="416052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81728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25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4590288" y="2651760"/>
          <a:ext cx="3703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8540496" y="2148840"/>
            <a:ext cx="3291840" cy="416052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75995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1250" dirty="0"/>
          </a:p>
        </p:txBody>
      </p:sp>
      <p:graphicFrame>
        <p:nvGraphicFramePr>
          <p:cNvPr id="34" name="Chart 2" descr=""/>
          <p:cNvGraphicFramePr/>
          <p:nvPr/>
        </p:nvGraphicFramePr>
        <p:xfrm>
          <a:off x="8631936" y="2697480"/>
          <a:ext cx="3108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Text 30"/>
          <p:cNvSpPr/>
          <p:nvPr/>
        </p:nvSpPr>
        <p:spPr>
          <a:xfrm>
            <a:off x="8759952" y="5440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drives over half of total revenue.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Walkthrough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element on the previous slide is doing, and why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(top)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01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instant pulse check — sales, profit, orders, and average order value, each with YoY % change so trend direction is obvious at a glance.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4140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(bar)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340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'what sells' visually — Technology's tall bar immediately draws the eye as the top performer.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346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(line)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6667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seasonality — the steep rise from September to December flags the holiday season as the key planning window.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2793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 (donut)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5994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total revenue into customer types — reveals how dependent the business is on the Consumer segment.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395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(top-right)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 viewer filter the entire page by year, region, or category — no SQL knowledge required to explore the data.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things the data told us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2179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28016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1389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0" y="171907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the most and brings in the biggest share of total revenue.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95160" y="2542032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298094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jump about 28% higher than the yearly average — the busiest shopping season.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3803904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3913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23760" y="424281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the most profit per sale, even though it doesn't sell the most.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95160" y="5065776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0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51755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23760" y="55046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 lot, but earns very little profit — prices may need a review.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analysis into business action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2103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Inventory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for Technology in Q4; reduce slow-moving Furniture SKUs.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00200"/>
            <a:ext cx="109728" cy="2103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Office Supplies Pricing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supplier costs or adjust pricing to protect margins.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23360"/>
            <a:ext cx="109728" cy="2103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51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West Region Strategy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006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West's pricing/promotion mix and apply learnings elsewhere.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023360"/>
            <a:ext cx="109728" cy="2103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251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8006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repeat customers identified via SQL segmentation for retention offers.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371600"/>
            <a:ext cx="3200400" cy="32004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Real Decisions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Excel, SQL, and Power BI work together end-to-end — cleaning messy data, querying it at scale, and presenting it in a dashboard that drives real business decisions.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937260" cy="457200"/>
          </a:xfrm>
          <a:prstGeom prst="roundRect">
            <a:avLst>
              <a:gd name="adj" fmla="val 50000"/>
            </a:avLst>
          </a:prstGeom>
          <a:solidFill>
            <a:srgbClr val="1E71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2336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61388" y="4023360"/>
            <a:ext cx="708660" cy="457200"/>
          </a:xfrm>
          <a:prstGeom prst="roundRect">
            <a:avLst>
              <a:gd name="adj" fmla="val 50000"/>
            </a:avLst>
          </a:prstGeom>
          <a:solidFill>
            <a:srgbClr val="155A9C"/>
          </a:solidFill>
          <a:ln/>
        </p:spPr>
      </p:sp>
      <p:sp>
        <p:nvSpPr>
          <p:cNvPr id="10" name="Text 8"/>
          <p:cNvSpPr/>
          <p:nvPr/>
        </p:nvSpPr>
        <p:spPr>
          <a:xfrm>
            <a:off x="1961388" y="402336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71216" y="402336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C99A00"/>
          </a:solidFill>
          <a:ln/>
        </p:spPr>
      </p:sp>
      <p:sp>
        <p:nvSpPr>
          <p:cNvPr id="12" name="Text 10"/>
          <p:cNvSpPr/>
          <p:nvPr/>
        </p:nvSpPr>
        <p:spPr>
          <a:xfrm>
            <a:off x="2871216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|  Md Salman  |  mds223347@gmail.com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2026-08-12T19:24:07Z</dcterms:created>
  <dcterms:modified xsi:type="dcterms:W3CDTF">2026-08-12T19:24:07Z</dcterms:modified>
</cp:coreProperties>
</file>